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77" r:id="rId6"/>
  </p:sldIdLst>
  <p:sldSz cx="9144000" cy="5143500" type="screen16x9"/>
  <p:notesSz cx="6858000" cy="9144000"/>
  <p:embeddedFontLst>
    <p:embeddedFont>
      <p:font typeface="Proxima Nova" panose="020B0604020202020204" charset="0"/>
      <p:regular r:id="rId8"/>
      <p:bold r:id="rId9"/>
      <p:italic r:id="rId10"/>
      <p:boldItalic r:id="rId11"/>
    </p:embeddedFont>
    <p:embeddedFont>
      <p:font typeface="Roboto" panose="02000000000000000000" pitchFamily="2" charset="0"/>
      <p:regular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47441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69695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7c5cf96834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7c5cf96834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4216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7c5cf96834_0_4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7c5cf96834_0_4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4877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7c5cf96834_0_5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7c5cf96834_0_5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3555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265500" y="1205825"/>
            <a:ext cx="4045200" cy="15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311700" y="42368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91475"/>
            <a:ext cx="8520600" cy="191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071300"/>
            <a:ext cx="8520600" cy="9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pearmin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daschapopowa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mailto:daria.ryzhova@mail.ru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2e1FOVfFTfMDXthu1XsSK1MkcpB_4hUJHfJ8If2xcsE/edit?usp=sharing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2e1FOVfFTfMDXthu1XsSK1MkcpB_4hUJHfJ8If2xcsE/edit?usp=sharing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google.com/spreadsheets/d/12e1FOVfFTfMDXthu1XsSK1MkcpB_4hUJHfJ8If2xcsE/edit#gid=493543751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2e1FOVfFTfMDXthu1XsSK1MkcpB_4hUJHfJ8If2xcsE/edit?usp=sharing" TargetMode="External"/><Relationship Id="rId2" Type="http://schemas.openxmlformats.org/officeDocument/2006/relationships/hyperlink" Target="https://github.com/dashapopova/CompSem2026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t.me/+OBmC5uUWco41YjRi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НИС “Компьютерная семантика”</a:t>
            </a:r>
            <a:endParaRPr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Даша Попова, </a:t>
            </a:r>
            <a:r>
              <a:rPr lang="ru" u="sng">
                <a:solidFill>
                  <a:schemeClr val="hlink"/>
                </a:solidFill>
                <a:hlinkClick r:id="rId3"/>
              </a:rPr>
              <a:t>daschapopowa@gmail.com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Даша Рыжова, </a:t>
            </a:r>
            <a:r>
              <a:rPr lang="ru" u="sng">
                <a:solidFill>
                  <a:schemeClr val="hlink"/>
                </a:solidFill>
                <a:hlinkClick r:id="rId4"/>
              </a:rPr>
              <a:t>daria.ryzhova@mail.ru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ubTitle" idx="1"/>
          </p:nvPr>
        </p:nvSpPr>
        <p:spPr>
          <a:xfrm>
            <a:off x="648850" y="4608819"/>
            <a:ext cx="8123100" cy="33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dirty="0"/>
              <a:t>Школа лингвистики НИУ ВШЭ, 202</a:t>
            </a:r>
            <a:r>
              <a:rPr lang="en-US" sz="1800" dirty="0"/>
              <a:t>6</a:t>
            </a:r>
            <a:r>
              <a:rPr lang="ru" sz="1800" dirty="0"/>
              <a:t> г.</a:t>
            </a:r>
            <a:endParaRPr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578000" y="431025"/>
            <a:ext cx="8308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Цель и идеология курса</a:t>
            </a:r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519725" y="1152475"/>
            <a:ext cx="7539754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Предмет обсуждения: компьютерная семантика в широком смысле (но с некоторым перекосом в сторону лексики)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ru" dirty="0"/>
              <a:t>НЕ программирование в чистом виде:</a:t>
            </a:r>
            <a:endParaRPr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ru" dirty="0"/>
              <a:t>не только сами методы, но и примеры их применения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 dirty="0"/>
              <a:t>не только рассказываем и показываем, но и обсуждаем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>
            <a:spLocks noGrp="1"/>
          </p:cNvSpPr>
          <p:nvPr>
            <p:ph type="title"/>
          </p:nvPr>
        </p:nvSpPr>
        <p:spPr>
          <a:xfrm>
            <a:off x="311700" y="8506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План курса </a:t>
            </a:r>
            <a:r>
              <a:rPr lang="ru" sz="1800" dirty="0"/>
              <a:t>(</a:t>
            </a:r>
            <a:r>
              <a:rPr lang="ru" sz="1800" dirty="0">
                <a:hlinkClick r:id="rId3"/>
              </a:rPr>
              <a:t>гугл-таблица</a:t>
            </a:r>
            <a:r>
              <a:rPr lang="ru" sz="1800" dirty="0"/>
              <a:t>)</a:t>
            </a:r>
            <a:endParaRPr dirty="0"/>
          </a:p>
        </p:txBody>
      </p:sp>
      <p:sp>
        <p:nvSpPr>
          <p:cNvPr id="73" name="Google Shape;73;p15"/>
          <p:cNvSpPr txBox="1">
            <a:spLocks noGrp="1"/>
          </p:cNvSpPr>
          <p:nvPr>
            <p:ph type="body" idx="1"/>
          </p:nvPr>
        </p:nvSpPr>
        <p:spPr>
          <a:xfrm>
            <a:off x="403412" y="696957"/>
            <a:ext cx="8428888" cy="381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0. Вводная часть</a:t>
            </a:r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ru" dirty="0"/>
              <a:t>Блок 1: Лексические ресурсы: WordNet, MultiWordNet, FrameNet, графы</a:t>
            </a:r>
          </a:p>
          <a:p>
            <a:pPr marL="0" lvl="0" indent="0">
              <a:lnSpc>
                <a:spcPct val="100000"/>
              </a:lnSpc>
              <a:spcBef>
                <a:spcPts val="1600"/>
              </a:spcBef>
              <a:buNone/>
            </a:pPr>
            <a:r>
              <a:rPr lang="ru" dirty="0"/>
              <a:t>Блок 2: Дистрибутивные модели</a:t>
            </a:r>
            <a:r>
              <a:rPr lang="en-US" dirty="0"/>
              <a:t> (</a:t>
            </a:r>
            <a:r>
              <a:rPr lang="ru-RU" dirty="0"/>
              <a:t>в т.ч. приглашаем Нику Зыкову</a:t>
            </a:r>
            <a:r>
              <a:rPr lang="en-US" dirty="0"/>
              <a:t>)</a:t>
            </a:r>
            <a:endParaRPr dirty="0"/>
          </a:p>
          <a:p>
            <a:pPr marL="0" indent="0">
              <a:lnSpc>
                <a:spcPct val="100000"/>
              </a:lnSpc>
              <a:spcBef>
                <a:spcPts val="1600"/>
              </a:spcBef>
              <a:buNone/>
            </a:pPr>
            <a:r>
              <a:rPr lang="ru" dirty="0"/>
              <a:t>Блок 3: </a:t>
            </a:r>
            <a:r>
              <a:rPr lang="en-US" dirty="0"/>
              <a:t>Natural Language Inference</a:t>
            </a:r>
          </a:p>
          <a:p>
            <a:pPr marL="0" lvl="0" indent="0">
              <a:lnSpc>
                <a:spcPct val="100000"/>
              </a:lnSpc>
              <a:spcBef>
                <a:spcPts val="1600"/>
              </a:spcBef>
              <a:buNone/>
            </a:pPr>
            <a:r>
              <a:rPr lang="ru" dirty="0"/>
              <a:t>Блок 4: Полисемия: метафора, метонимия</a:t>
            </a:r>
            <a:r>
              <a:rPr lang="en-US" dirty="0"/>
              <a:t>, </a:t>
            </a:r>
            <a:r>
              <a:rPr lang="ru-RU" dirty="0"/>
              <a:t>диахронические изменения</a:t>
            </a:r>
            <a:r>
              <a:rPr lang="ru" dirty="0"/>
              <a:t> (приглашаем Юлию Бадрызлову)</a:t>
            </a:r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ru" dirty="0"/>
              <a:t>Блок 5: Семантические карты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buNone/>
            </a:pPr>
            <a:r>
              <a:rPr lang="ru-RU" dirty="0"/>
              <a:t>Блок 6: </a:t>
            </a:r>
            <a:r>
              <a:rPr lang="en-US" dirty="0"/>
              <a:t>Rational Speech Act Theory</a:t>
            </a:r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buNone/>
            </a:pPr>
            <a:r>
              <a:rPr lang="ru-RU" dirty="0"/>
              <a:t>Блок 7: </a:t>
            </a:r>
            <a:r>
              <a:rPr lang="en-US" dirty="0"/>
              <a:t>S</a:t>
            </a:r>
            <a:r>
              <a:rPr lang="ru" dirty="0"/>
              <a:t>entiment Analysis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15794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Средства контроля и формула оценки</a:t>
            </a:r>
            <a:endParaRPr dirty="0"/>
          </a:p>
        </p:txBody>
      </p:sp>
      <p:sp>
        <p:nvSpPr>
          <p:cNvPr id="85" name="Google Shape;85;p17"/>
          <p:cNvSpPr txBox="1">
            <a:spLocks noGrp="1"/>
          </p:cNvSpPr>
          <p:nvPr>
            <p:ph type="body" idx="1"/>
          </p:nvPr>
        </p:nvSpPr>
        <p:spPr>
          <a:xfrm>
            <a:off x="311700" y="854638"/>
            <a:ext cx="8660178" cy="37597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ru" sz="2200" dirty="0"/>
              <a:t>Домашние задания: 2 штуки</a:t>
            </a:r>
            <a:endParaRPr lang="ru-RU" sz="2200" dirty="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ru" sz="2200" dirty="0"/>
              <a:t>Презентация статьи (10 мин. + дискуссия), запись </a:t>
            </a:r>
            <a:r>
              <a:rPr lang="ru" sz="2200" dirty="0">
                <a:hlinkClick r:id="rId3"/>
              </a:rPr>
              <a:t>здесь</a:t>
            </a:r>
            <a:endParaRPr lang="ru" sz="2200" dirty="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ru" sz="2200" dirty="0"/>
              <a:t>Эссе (=экзамен). Один из вариантов:</a:t>
            </a:r>
            <a:endParaRPr sz="22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ru" sz="2200" dirty="0"/>
              <a:t>обзор и критический анализ нескольких статей</a:t>
            </a:r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ru" sz="2200" dirty="0"/>
              <a:t>обзор и популярное изложение нескольких статей</a:t>
            </a:r>
            <a:br>
              <a:rPr lang="ru" sz="2200" dirty="0"/>
            </a:br>
            <a:r>
              <a:rPr lang="ru" sz="1600" dirty="0"/>
              <a:t>(см. Системный Блокъ)</a:t>
            </a:r>
            <a:endParaRPr lang="ru" sz="22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ru" sz="2200" dirty="0"/>
              <a:t>собственное проектное предложение</a:t>
            </a:r>
          </a:p>
          <a:p>
            <a:pPr marL="54610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ru-RU" sz="2200" dirty="0"/>
              <a:t>Примеры тем м</a:t>
            </a:r>
            <a:r>
              <a:rPr lang="ru" sz="2200" dirty="0"/>
              <a:t>ожно посмотреть </a:t>
            </a:r>
            <a:r>
              <a:rPr lang="ru" sz="2200" dirty="0">
                <a:hlinkClick r:id="rId4"/>
              </a:rPr>
              <a:t>здесь</a:t>
            </a:r>
            <a:r>
              <a:rPr lang="ru" sz="2200" dirty="0"/>
              <a:t> же, вкладка «темы эссе»</a:t>
            </a: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>
              <a:lnSpc>
                <a:spcPct val="100000"/>
              </a:lnSpc>
              <a:buNone/>
            </a:pPr>
            <a:r>
              <a:rPr lang="ru" b="1" dirty="0"/>
              <a:t>0.2 * Дз 1 + 0.2 * Дз 2 + 0.2 * Презентация + 0.4 * Эссе</a:t>
            </a:r>
            <a:endParaRPr lang="ru" sz="14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Материалы курса и каналы общения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latin typeface="+mn-lt"/>
              </a:rPr>
              <a:t>Все материалы к курсу будут появляться здесь:</a:t>
            </a:r>
          </a:p>
          <a:p>
            <a:pPr marL="114300" indent="0">
              <a:buNone/>
            </a:pPr>
            <a:r>
              <a:rPr lang="en-US" dirty="0">
                <a:latin typeface="+mn-lt"/>
                <a:hlinkClick r:id="rId2"/>
              </a:rPr>
              <a:t>https://github.com/dashapopova/CompSem202</a:t>
            </a:r>
            <a:r>
              <a:rPr lang="ru-RU" dirty="0">
                <a:latin typeface="+mn-lt"/>
                <a:hlinkClick r:id="rId2"/>
              </a:rPr>
              <a:t>6</a:t>
            </a:r>
            <a:r>
              <a:rPr lang="ru-RU" dirty="0">
                <a:latin typeface="+mn-lt"/>
              </a:rPr>
              <a:t> </a:t>
            </a:r>
          </a:p>
          <a:p>
            <a:r>
              <a:rPr lang="ru-RU" dirty="0">
                <a:latin typeface="+mn-lt"/>
              </a:rPr>
              <a:t>Темы занятий, запись на статьи, темы эссе:</a:t>
            </a:r>
          </a:p>
          <a:p>
            <a:pPr marL="114300" indent="0">
              <a:buNone/>
            </a:pPr>
            <a:r>
              <a:rPr lang="en-US" dirty="0">
                <a:latin typeface="+mn-lt"/>
                <a:hlinkClick r:id="rId3"/>
              </a:rPr>
              <a:t>https://docs.google.com/spreadsheets/d/12e1FOVfFTfMDXthu1XsSK1MkcpB_4hUJHfJ8If2xcsE/edit?usp=sharing</a:t>
            </a:r>
            <a:r>
              <a:rPr lang="en-US" dirty="0">
                <a:latin typeface="+mn-lt"/>
              </a:rPr>
              <a:t> </a:t>
            </a:r>
            <a:endParaRPr lang="ru-RU" dirty="0">
              <a:latin typeface="+mn-lt"/>
            </a:endParaRPr>
          </a:p>
          <a:p>
            <a:r>
              <a:rPr lang="ru-RU" dirty="0">
                <a:latin typeface="+mn-lt"/>
              </a:rPr>
              <a:t>Чат в </a:t>
            </a:r>
            <a:r>
              <a:rPr lang="ru-RU" dirty="0" err="1">
                <a:latin typeface="+mn-lt"/>
              </a:rPr>
              <a:t>телеграм</a:t>
            </a:r>
            <a:r>
              <a:rPr lang="ru-RU" dirty="0">
                <a:latin typeface="+mn-lt"/>
              </a:rPr>
              <a:t>: </a:t>
            </a:r>
            <a:r>
              <a:rPr lang="en-US" dirty="0">
                <a:latin typeface="+mn-lt"/>
                <a:hlinkClick r:id="rId4"/>
              </a:rPr>
              <a:t>https://t.me/+OBmC5uUWco41YjRi</a:t>
            </a:r>
            <a:r>
              <a:rPr lang="ru-RU" dirty="0">
                <a:solidFill>
                  <a:srgbClr val="3390EC"/>
                </a:solidFill>
                <a:latin typeface="Roboto" panose="02000000000000000000" pitchFamily="2" charset="0"/>
              </a:rPr>
              <a:t> </a:t>
            </a:r>
            <a:r>
              <a:rPr lang="ru-RU" b="0" i="0" dirty="0">
                <a:solidFill>
                  <a:srgbClr val="3390EC"/>
                </a:solidFill>
                <a:effectLst/>
                <a:latin typeface="Roboto" panose="02000000000000000000" pitchFamily="2" charset="0"/>
              </a:rPr>
              <a:t> </a:t>
            </a:r>
            <a:endParaRPr lang="ru-RU" dirty="0">
              <a:latin typeface="+mn-lt"/>
            </a:endParaRPr>
          </a:p>
          <a:p>
            <a:pPr marL="114300" indent="0">
              <a:buNone/>
            </a:pPr>
            <a:endParaRPr lang="ru-RU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35384404"/>
      </p:ext>
    </p:extLst>
  </p:cSld>
  <p:clrMapOvr>
    <a:masterClrMapping/>
  </p:clrMapOvr>
</p:sld>
</file>

<file path=ppt/theme/theme1.xml><?xml version="1.0" encoding="utf-8"?>
<a:theme xmlns:a="http://schemas.openxmlformats.org/drawingml/2006/main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1190</TotalTime>
  <Words>301</Words>
  <Application>Microsoft Office PowerPoint</Application>
  <PresentationFormat>Экран (16:9)</PresentationFormat>
  <Paragraphs>34</Paragraphs>
  <Slides>5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9" baseType="lpstr">
      <vt:lpstr>Proxima Nova</vt:lpstr>
      <vt:lpstr>Roboto</vt:lpstr>
      <vt:lpstr>Arial</vt:lpstr>
      <vt:lpstr>Spearmint</vt:lpstr>
      <vt:lpstr>НИС “Компьютерная семантика”</vt:lpstr>
      <vt:lpstr>Цель и идеология курса</vt:lpstr>
      <vt:lpstr>План курса (гугл-таблица)</vt:lpstr>
      <vt:lpstr>Средства контроля и формула оценки</vt:lpstr>
      <vt:lpstr>Материалы курса и каналы общения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НИС “Компьютерная лексикография” Занятие 1: Вводное</dc:title>
  <dc:creator>Daria R</dc:creator>
  <cp:lastModifiedBy>Дарья Рыжова</cp:lastModifiedBy>
  <cp:revision>28</cp:revision>
  <dcterms:modified xsi:type="dcterms:W3CDTF">2026-01-14T09:07:35Z</dcterms:modified>
</cp:coreProperties>
</file>